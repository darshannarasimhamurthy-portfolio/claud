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22402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779008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22960"/>
            <a:ext cx="673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PEDESTRIANS &amp; MHE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325880"/>
            <a:ext cx="673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WAREHOUSE SAFELY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828800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and vehicles work side by side. Everyone has a part to play.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68833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97280" y="2560320"/>
            <a:ext cx="137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apart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834640"/>
            <a:ext cx="1377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people and vehicles separated wherever possible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03576" y="242316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40736" y="2587752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320" y="268833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389376" y="2560320"/>
            <a:ext cx="137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seen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389376" y="2834640"/>
            <a:ext cx="1377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Hi-vis on, lights on and eye contact made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995672" y="242316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132832" y="2587752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416" y="268833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681472" y="2560320"/>
            <a:ext cx="137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alert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681472" y="2834640"/>
            <a:ext cx="1377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can shift and people can step out without warning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11480" y="3566160"/>
            <a:ext cx="3300984" cy="2788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4360" y="3730752"/>
            <a:ext cx="457200" cy="45720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83133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188720" y="373075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PEDESTRIANS</a:t>
            </a:r>
            <a:endParaRPr lang="en-US" sz="15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434840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14400" y="434340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marked walkways</a:t>
            </a:r>
            <a:endParaRPr lang="en-US" sz="10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4828032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14400" y="473659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alert and avoid distractions</a:t>
            </a:r>
            <a:endParaRPr lang="en-US" sz="10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5221224"/>
            <a:ext cx="182880" cy="18288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14400" y="5129784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eye contact with MHE operators before crossing</a:t>
            </a:r>
            <a:endParaRPr lang="en-US" sz="10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" y="5614416"/>
            <a:ext cx="182880" cy="18288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14400" y="552297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 high-visibility clothing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3849624" y="3566160"/>
            <a:ext cx="3300984" cy="2788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4032504" y="3730752"/>
            <a:ext cx="457200" cy="45720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3088" y="3831336"/>
            <a:ext cx="256032" cy="256032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4626864" y="373075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MHE OPERATORS</a:t>
            </a:r>
            <a:endParaRPr lang="en-US" sz="15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0792" y="4434840"/>
            <a:ext cx="182880" cy="18288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4352544" y="434340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pre-use checks before every shift</a:t>
            </a:r>
            <a:endParaRPr lang="en-US" sz="10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0792" y="4828032"/>
            <a:ext cx="182880" cy="18288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4352544" y="473659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at safe speeds</a:t>
            </a:r>
            <a:endParaRPr lang="en-US" sz="10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50792" y="5221224"/>
            <a:ext cx="182880" cy="18288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4352544" y="5129784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horn at blind corners and junctions</a:t>
            </a:r>
            <a:endParaRPr lang="en-US" sz="10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50792" y="5614416"/>
            <a:ext cx="182880" cy="182880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4352544" y="552297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forks lowered while travelling</a:t>
            </a:r>
            <a:endParaRPr lang="en-US" sz="10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50792" y="6007608"/>
            <a:ext cx="182880" cy="182880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4352544" y="591616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site traffic routes</a:t>
            </a:r>
            <a:endParaRPr lang="en-US" sz="1000" dirty="0"/>
          </a:p>
        </p:txBody>
      </p:sp>
      <p:sp>
        <p:nvSpPr>
          <p:cNvPr id="49" name="Text 33"/>
          <p:cNvSpPr txBox="1"/>
          <p:nvPr/>
        </p:nvSpPr>
        <p:spPr>
          <a:xfrm>
            <a:off x="411480" y="6537960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STOP!</a:t>
            </a:r>
            <a:endParaRPr lang="en-US" sz="1500" dirty="0"/>
          </a:p>
        </p:txBody>
      </p:sp>
      <p:sp>
        <p:nvSpPr>
          <p:cNvPr id="50" name="Shape 34"/>
          <p:cNvSpPr/>
          <p:nvPr/>
        </p:nvSpPr>
        <p:spPr>
          <a:xfrm>
            <a:off x="411480" y="6903720"/>
            <a:ext cx="457200" cy="45720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pic>
        <p:nvPicPr>
          <p:cNvPr id="5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064" y="7004304"/>
            <a:ext cx="256032" cy="256032"/>
          </a:xfrm>
          <a:prstGeom prst="rect">
            <a:avLst/>
          </a:prstGeom>
        </p:spPr>
      </p:pic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0664" y="7214616"/>
            <a:ext cx="164592" cy="164592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978408" y="6903720"/>
            <a:ext cx="1560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mobile phone use while walking or driving</a:t>
            </a:r>
            <a:endParaRPr lang="en-US" sz="1000" dirty="0"/>
          </a:p>
        </p:txBody>
      </p:sp>
      <p:sp>
        <p:nvSpPr>
          <p:cNvPr id="54" name="Shape 36"/>
          <p:cNvSpPr/>
          <p:nvPr/>
        </p:nvSpPr>
        <p:spPr>
          <a:xfrm>
            <a:off x="2703576" y="6903720"/>
            <a:ext cx="457200" cy="45720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pic>
        <p:nvPicPr>
          <p:cNvPr id="5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04160" y="7004304"/>
            <a:ext cx="256032" cy="256032"/>
          </a:xfrm>
          <a:prstGeom prst="rect">
            <a:avLst/>
          </a:prstGeom>
        </p:spPr>
      </p:pic>
      <p:pic>
        <p:nvPicPr>
          <p:cNvPr id="5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32760" y="7214616"/>
            <a:ext cx="164592" cy="164592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3270504" y="6903720"/>
            <a:ext cx="1560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riding on pallet trucks or equipment</a:t>
            </a:r>
            <a:endParaRPr lang="en-US" sz="1000" dirty="0"/>
          </a:p>
        </p:txBody>
      </p:sp>
      <p:sp>
        <p:nvSpPr>
          <p:cNvPr id="58" name="Shape 38"/>
          <p:cNvSpPr/>
          <p:nvPr/>
        </p:nvSpPr>
        <p:spPr>
          <a:xfrm>
            <a:off x="4995672" y="6903720"/>
            <a:ext cx="457200" cy="45720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pic>
        <p:nvPicPr>
          <p:cNvPr id="5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96256" y="7004304"/>
            <a:ext cx="256032" cy="256032"/>
          </a:xfrm>
          <a:prstGeom prst="rect">
            <a:avLst/>
          </a:prstGeom>
        </p:spPr>
      </p:pic>
      <p:pic>
        <p:nvPicPr>
          <p:cNvPr id="6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24856" y="7214616"/>
            <a:ext cx="164592" cy="164592"/>
          </a:xfrm>
          <a:prstGeom prst="rect">
            <a:avLst/>
          </a:prstGeom>
        </p:spPr>
      </p:pic>
      <p:sp>
        <p:nvSpPr>
          <p:cNvPr id="61" name="Text 39"/>
          <p:cNvSpPr txBox="1"/>
          <p:nvPr/>
        </p:nvSpPr>
        <p:spPr>
          <a:xfrm>
            <a:off x="5562600" y="6903720"/>
            <a:ext cx="1560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speeding or horseplay</a:t>
            </a:r>
            <a:endParaRPr lang="en-US" sz="1000" dirty="0"/>
          </a:p>
        </p:txBody>
      </p:sp>
      <p:sp>
        <p:nvSpPr>
          <p:cNvPr id="62" name="Shape 40"/>
          <p:cNvSpPr/>
          <p:nvPr/>
        </p:nvSpPr>
        <p:spPr>
          <a:xfrm>
            <a:off x="411480" y="7635240"/>
            <a:ext cx="3300984" cy="1645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3" name="Shape 41"/>
          <p:cNvSpPr/>
          <p:nvPr/>
        </p:nvSpPr>
        <p:spPr>
          <a:xfrm>
            <a:off x="3849624" y="7635240"/>
            <a:ext cx="3300984" cy="16459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4" name="Text 42"/>
          <p:cNvSpPr txBox="1"/>
          <p:nvPr/>
        </p:nvSpPr>
        <p:spPr>
          <a:xfrm>
            <a:off x="594360" y="77724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CROSSING POINTS</a:t>
            </a:r>
            <a:endParaRPr lang="en-US" sz="1200" dirty="0"/>
          </a:p>
        </p:txBody>
      </p:sp>
      <p:sp>
        <p:nvSpPr>
          <p:cNvPr id="65" name="Shape 43"/>
          <p:cNvSpPr/>
          <p:nvPr/>
        </p:nvSpPr>
        <p:spPr>
          <a:xfrm>
            <a:off x="594360" y="8138160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6" name="Text 44"/>
          <p:cNvSpPr txBox="1"/>
          <p:nvPr/>
        </p:nvSpPr>
        <p:spPr>
          <a:xfrm>
            <a:off x="594360" y="8138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67" name="Text 45"/>
          <p:cNvSpPr txBox="1"/>
          <p:nvPr/>
        </p:nvSpPr>
        <p:spPr>
          <a:xfrm>
            <a:off x="886968" y="8138160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at the edge of the walkway</a:t>
            </a:r>
            <a:endParaRPr lang="en-US" sz="950" dirty="0"/>
          </a:p>
        </p:txBody>
      </p:sp>
      <p:sp>
        <p:nvSpPr>
          <p:cNvPr id="68" name="Shape 46"/>
          <p:cNvSpPr/>
          <p:nvPr/>
        </p:nvSpPr>
        <p:spPr>
          <a:xfrm>
            <a:off x="594360" y="8403336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9" name="Text 47"/>
          <p:cNvSpPr txBox="1"/>
          <p:nvPr/>
        </p:nvSpPr>
        <p:spPr>
          <a:xfrm>
            <a:off x="594360" y="8403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0" name="Text 48"/>
          <p:cNvSpPr txBox="1"/>
          <p:nvPr/>
        </p:nvSpPr>
        <p:spPr>
          <a:xfrm>
            <a:off x="886968" y="8403336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both ways and listen</a:t>
            </a:r>
            <a:endParaRPr lang="en-US" sz="950" dirty="0"/>
          </a:p>
        </p:txBody>
      </p:sp>
      <p:sp>
        <p:nvSpPr>
          <p:cNvPr id="71" name="Shape 49"/>
          <p:cNvSpPr/>
          <p:nvPr/>
        </p:nvSpPr>
        <p:spPr>
          <a:xfrm>
            <a:off x="594360" y="8668512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2" name="Text 50"/>
          <p:cNvSpPr txBox="1"/>
          <p:nvPr/>
        </p:nvSpPr>
        <p:spPr>
          <a:xfrm>
            <a:off x="594360" y="8668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73" name="Text 51"/>
          <p:cNvSpPr txBox="1"/>
          <p:nvPr/>
        </p:nvSpPr>
        <p:spPr>
          <a:xfrm>
            <a:off x="886968" y="8668512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CONTACT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with the operator</a:t>
            </a:r>
            <a:endParaRPr lang="en-US" sz="950" dirty="0"/>
          </a:p>
        </p:txBody>
      </p:sp>
      <p:sp>
        <p:nvSpPr>
          <p:cNvPr id="74" name="Shape 52"/>
          <p:cNvSpPr/>
          <p:nvPr/>
        </p:nvSpPr>
        <p:spPr>
          <a:xfrm>
            <a:off x="594360" y="89336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5" name="Text 53"/>
          <p:cNvSpPr txBox="1"/>
          <p:nvPr/>
        </p:nvSpPr>
        <p:spPr>
          <a:xfrm>
            <a:off x="594360" y="8933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76" name="Text 54"/>
          <p:cNvSpPr txBox="1"/>
          <p:nvPr/>
        </p:nvSpPr>
        <p:spPr>
          <a:xfrm>
            <a:off x="886968" y="893368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only when it is clear</a:t>
            </a:r>
            <a:endParaRPr lang="en-US" sz="950" dirty="0"/>
          </a:p>
        </p:txBody>
      </p:sp>
      <p:sp>
        <p:nvSpPr>
          <p:cNvPr id="77" name="Text 55"/>
          <p:cNvSpPr txBox="1"/>
          <p:nvPr/>
        </p:nvSpPr>
        <p:spPr>
          <a:xfrm>
            <a:off x="4032504" y="77724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DANGER ZONES</a:t>
            </a:r>
            <a:endParaRPr lang="en-US" sz="1200" dirty="0"/>
          </a:p>
        </p:txBody>
      </p:sp>
      <p:pic>
        <p:nvPicPr>
          <p:cNvPr id="7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32504" y="8165592"/>
            <a:ext cx="137160" cy="137160"/>
          </a:xfrm>
          <a:prstGeom prst="rect">
            <a:avLst/>
          </a:prstGeom>
        </p:spPr>
      </p:pic>
      <p:sp>
        <p:nvSpPr>
          <p:cNvPr id="79" name="Text 56"/>
          <p:cNvSpPr txBox="1"/>
          <p:nvPr/>
        </p:nvSpPr>
        <p:spPr>
          <a:xfrm>
            <a:off x="4261104" y="8138160"/>
            <a:ext cx="2706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corners and junctions</a:t>
            </a:r>
            <a:endParaRPr lang="en-US" sz="900" dirty="0"/>
          </a:p>
        </p:txBody>
      </p:sp>
      <p:pic>
        <p:nvPicPr>
          <p:cNvPr id="8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32504" y="8375904"/>
            <a:ext cx="137160" cy="137160"/>
          </a:xfrm>
          <a:prstGeom prst="rect">
            <a:avLst/>
          </a:prstGeom>
        </p:spPr>
      </p:pic>
      <p:sp>
        <p:nvSpPr>
          <p:cNvPr id="81" name="Text 57"/>
          <p:cNvSpPr txBox="1"/>
          <p:nvPr/>
        </p:nvSpPr>
        <p:spPr>
          <a:xfrm>
            <a:off x="4261104" y="8348472"/>
            <a:ext cx="2706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Racking aisle ends</a:t>
            </a:r>
            <a:endParaRPr lang="en-US" sz="900" dirty="0"/>
          </a:p>
        </p:txBody>
      </p:sp>
      <p:pic>
        <p:nvPicPr>
          <p:cNvPr id="8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32504" y="8586216"/>
            <a:ext cx="137160" cy="137160"/>
          </a:xfrm>
          <a:prstGeom prst="rect">
            <a:avLst/>
          </a:prstGeom>
        </p:spPr>
      </p:pic>
      <p:sp>
        <p:nvSpPr>
          <p:cNvPr id="83" name="Text 58"/>
          <p:cNvSpPr txBox="1"/>
          <p:nvPr/>
        </p:nvSpPr>
        <p:spPr>
          <a:xfrm>
            <a:off x="4261104" y="8558784"/>
            <a:ext cx="2706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 doors and loading bays</a:t>
            </a:r>
            <a:endParaRPr lang="en-US" sz="900" dirty="0"/>
          </a:p>
        </p:txBody>
      </p:sp>
      <p:pic>
        <p:nvPicPr>
          <p:cNvPr id="84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32504" y="8796528"/>
            <a:ext cx="137160" cy="137160"/>
          </a:xfrm>
          <a:prstGeom prst="rect">
            <a:avLst/>
          </a:prstGeom>
        </p:spPr>
      </p:pic>
      <p:sp>
        <p:nvSpPr>
          <p:cNvPr id="85" name="Text 59"/>
          <p:cNvSpPr txBox="1"/>
          <p:nvPr/>
        </p:nvSpPr>
        <p:spPr>
          <a:xfrm>
            <a:off x="4261104" y="8769096"/>
            <a:ext cx="2706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 areas</a:t>
            </a:r>
            <a:endParaRPr lang="en-US" sz="900" dirty="0"/>
          </a:p>
        </p:txBody>
      </p:sp>
      <p:pic>
        <p:nvPicPr>
          <p:cNvPr id="8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32504" y="9006840"/>
            <a:ext cx="137160" cy="137160"/>
          </a:xfrm>
          <a:prstGeom prst="rect">
            <a:avLst/>
          </a:prstGeom>
        </p:spPr>
      </p:pic>
      <p:sp>
        <p:nvSpPr>
          <p:cNvPr id="87" name="Text 60"/>
          <p:cNvSpPr txBox="1"/>
          <p:nvPr/>
        </p:nvSpPr>
        <p:spPr>
          <a:xfrm>
            <a:off x="4261104" y="8979408"/>
            <a:ext cx="2706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Reversing vehicles</a:t>
            </a:r>
            <a:endParaRPr lang="en-US" sz="900" dirty="0"/>
          </a:p>
        </p:txBody>
      </p:sp>
      <p:sp>
        <p:nvSpPr>
          <p:cNvPr id="88" name="Shape 61"/>
          <p:cNvSpPr/>
          <p:nvPr/>
        </p:nvSpPr>
        <p:spPr>
          <a:xfrm>
            <a:off x="0" y="9464040"/>
            <a:ext cx="7562088" cy="1225296"/>
          </a:xfrm>
          <a:prstGeom prst="rect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89" name="Text 62"/>
          <p:cNvSpPr txBox="1"/>
          <p:nvPr/>
        </p:nvSpPr>
        <p:spPr>
          <a:xfrm>
            <a:off x="411480" y="9555480"/>
            <a:ext cx="6739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IT. SORT IT. REPORT IT.</a:t>
            </a:r>
            <a:endParaRPr lang="en-US" sz="2200" dirty="0"/>
          </a:p>
        </p:txBody>
      </p:sp>
      <p:sp>
        <p:nvSpPr>
          <p:cNvPr id="90" name="Text 63"/>
          <p:cNvSpPr txBox="1"/>
          <p:nvPr/>
        </p:nvSpPr>
        <p:spPr>
          <a:xfrm>
            <a:off x="411480" y="9875520"/>
            <a:ext cx="6739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AND VEHICLES DON'T MIX</a:t>
            </a:r>
            <a:endParaRPr lang="en-US" sz="1800" dirty="0"/>
          </a:p>
        </p:txBody>
      </p:sp>
      <p:sp>
        <p:nvSpPr>
          <p:cNvPr id="91" name="Text 64"/>
          <p:cNvSpPr txBox="1"/>
          <p:nvPr/>
        </p:nvSpPr>
        <p:spPr>
          <a:xfrm>
            <a:off x="411480" y="10287000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see unsafe driving or walking, speak to your Team Leader or Shift Manager.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22402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779008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22960"/>
            <a:ext cx="673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MANUAL HANDLING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325880"/>
            <a:ext cx="6739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YOUR BACK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828800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manual handling injuries can be avoided with the right approach.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68833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97280" y="2560320"/>
            <a:ext cx="137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risk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834640"/>
            <a:ext cx="1377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Lifting, pushing, pulling and carrying all count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03576" y="242316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40736" y="2587752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320" y="268833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389376" y="2560320"/>
            <a:ext cx="137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aids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389376" y="2834640"/>
            <a:ext cx="1377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Pallet trucks, trolleys and cages reduce strain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995672" y="2423160"/>
            <a:ext cx="2154936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132832" y="2587752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416" y="268833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681472" y="2560320"/>
            <a:ext cx="137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help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681472" y="2834640"/>
            <a:ext cx="1377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team lift for heavy or awkward loads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411480" y="3566160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LIFT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411480" y="3931920"/>
            <a:ext cx="1274674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21208" y="40233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1164946" y="4041648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471" y="4132174"/>
            <a:ext cx="230429" cy="230429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21208" y="4553712"/>
            <a:ext cx="10552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the load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1777594" y="3931920"/>
            <a:ext cx="1274674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887322" y="40233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2531059" y="4041648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1585" y="4132174"/>
            <a:ext cx="230429" cy="230429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887322" y="4553712"/>
            <a:ext cx="10552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the lift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3143707" y="3931920"/>
            <a:ext cx="1274674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3253435" y="40233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36" name="Shape 29"/>
          <p:cNvSpPr/>
          <p:nvPr/>
        </p:nvSpPr>
        <p:spPr>
          <a:xfrm>
            <a:off x="3897173" y="4041648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7698" y="4132174"/>
            <a:ext cx="230429" cy="230429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3253435" y="4553712"/>
            <a:ext cx="10552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a clear route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509821" y="3931920"/>
            <a:ext cx="1274674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4619549" y="40233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41" name="Shape 33"/>
          <p:cNvSpPr/>
          <p:nvPr/>
        </p:nvSpPr>
        <p:spPr>
          <a:xfrm>
            <a:off x="5263286" y="4041648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3812" y="4132174"/>
            <a:ext cx="230429" cy="230429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4619549" y="4553712"/>
            <a:ext cx="10552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handling aids where available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5875934" y="3931920"/>
            <a:ext cx="1274674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5985662" y="40233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46" name="Shape 37"/>
          <p:cNvSpPr/>
          <p:nvPr/>
        </p:nvSpPr>
        <p:spPr>
          <a:xfrm>
            <a:off x="6629400" y="4041648"/>
            <a:ext cx="411480" cy="411480"/>
          </a:xfrm>
          <a:prstGeom prst="ellipse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9926" y="4132174"/>
            <a:ext cx="230429" cy="230429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5985662" y="4553712"/>
            <a:ext cx="10552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help if required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411480" y="5394960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500" dirty="0"/>
          </a:p>
        </p:txBody>
      </p:sp>
      <p:sp>
        <p:nvSpPr>
          <p:cNvPr id="50" name="Shape 40"/>
          <p:cNvSpPr/>
          <p:nvPr/>
        </p:nvSpPr>
        <p:spPr>
          <a:xfrm>
            <a:off x="411480" y="5760720"/>
            <a:ext cx="3300984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548640" y="5897880"/>
            <a:ext cx="411480" cy="41148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66" y="5988406"/>
            <a:ext cx="230429" cy="230429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1097280" y="585216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 your knees</a:t>
            </a:r>
            <a:endParaRPr lang="en-US" sz="1000" dirty="0"/>
          </a:p>
        </p:txBody>
      </p:sp>
      <p:sp>
        <p:nvSpPr>
          <p:cNvPr id="54" name="Text 43"/>
          <p:cNvSpPr txBox="1"/>
          <p:nvPr/>
        </p:nvSpPr>
        <p:spPr>
          <a:xfrm>
            <a:off x="1097280" y="6126480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with your legs, not your back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3849624" y="5760720"/>
            <a:ext cx="3300984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3986784" y="5897880"/>
            <a:ext cx="411480" cy="41148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7310" y="5988406"/>
            <a:ext cx="230429" cy="230429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4535424" y="585216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back straight</a:t>
            </a:r>
            <a:endParaRPr lang="en-US" sz="1000" dirty="0"/>
          </a:p>
        </p:txBody>
      </p:sp>
      <p:sp>
        <p:nvSpPr>
          <p:cNvPr id="59" name="Text 47"/>
          <p:cNvSpPr txBox="1"/>
          <p:nvPr/>
        </p:nvSpPr>
        <p:spPr>
          <a:xfrm>
            <a:off x="4535424" y="6126480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 up, natural curve in the spine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411480" y="6556248"/>
            <a:ext cx="3300984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548640" y="6693408"/>
            <a:ext cx="411480" cy="41148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66" y="6783934"/>
            <a:ext cx="230429" cy="230429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1097280" y="66476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load close to your body</a:t>
            </a:r>
            <a:endParaRPr lang="en-US" sz="1000" dirty="0"/>
          </a:p>
        </p:txBody>
      </p:sp>
      <p:sp>
        <p:nvSpPr>
          <p:cNvPr id="64" name="Text 51"/>
          <p:cNvSpPr txBox="1"/>
          <p:nvPr/>
        </p:nvSpPr>
        <p:spPr>
          <a:xfrm>
            <a:off x="1097280" y="6922008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Heaviest side nearest to you</a:t>
            </a:r>
            <a:endParaRPr lang="en-US" sz="900" dirty="0"/>
          </a:p>
        </p:txBody>
      </p:sp>
      <p:sp>
        <p:nvSpPr>
          <p:cNvPr id="65" name="Shape 52"/>
          <p:cNvSpPr/>
          <p:nvPr/>
        </p:nvSpPr>
        <p:spPr>
          <a:xfrm>
            <a:off x="3849624" y="6556248"/>
            <a:ext cx="3300984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6" name="Shape 53"/>
          <p:cNvSpPr/>
          <p:nvPr/>
        </p:nvSpPr>
        <p:spPr>
          <a:xfrm>
            <a:off x="3986784" y="6693408"/>
            <a:ext cx="411480" cy="411480"/>
          </a:xfrm>
          <a:prstGeom prst="ellipse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pic>
        <p:nvPicPr>
          <p:cNvPr id="6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77310" y="6783934"/>
            <a:ext cx="230429" cy="230429"/>
          </a:xfrm>
          <a:prstGeom prst="rect">
            <a:avLst/>
          </a:prstGeom>
        </p:spPr>
      </p:pic>
      <p:sp>
        <p:nvSpPr>
          <p:cNvPr id="68" name="Text 54"/>
          <p:cNvSpPr txBox="1"/>
          <p:nvPr/>
        </p:nvSpPr>
        <p:spPr>
          <a:xfrm>
            <a:off x="4535424" y="66476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twisting while carrying</a:t>
            </a:r>
            <a:endParaRPr lang="en-US" sz="1000" dirty="0"/>
          </a:p>
        </p:txBody>
      </p:sp>
      <p:sp>
        <p:nvSpPr>
          <p:cNvPr id="69" name="Text 55"/>
          <p:cNvSpPr txBox="1"/>
          <p:nvPr/>
        </p:nvSpPr>
        <p:spPr>
          <a:xfrm>
            <a:off x="4535424" y="6922008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with your feet, not your waist</a:t>
            </a:r>
            <a:endParaRPr lang="en-US" sz="900" dirty="0"/>
          </a:p>
        </p:txBody>
      </p:sp>
      <p:sp>
        <p:nvSpPr>
          <p:cNvPr id="70" name="Shape 56"/>
          <p:cNvSpPr/>
          <p:nvPr/>
        </p:nvSpPr>
        <p:spPr>
          <a:xfrm>
            <a:off x="411480" y="7406640"/>
            <a:ext cx="3300984" cy="18745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1" name="Shape 57"/>
          <p:cNvSpPr/>
          <p:nvPr/>
        </p:nvSpPr>
        <p:spPr>
          <a:xfrm>
            <a:off x="3849624" y="7406640"/>
            <a:ext cx="3300984" cy="18745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2" name="Text 58"/>
          <p:cNvSpPr txBox="1"/>
          <p:nvPr/>
        </p:nvSpPr>
        <p:spPr>
          <a:xfrm>
            <a:off x="594360" y="75438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200" dirty="0"/>
          </a:p>
        </p:txBody>
      </p:sp>
      <p:pic>
        <p:nvPicPr>
          <p:cNvPr id="7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" y="7936992"/>
            <a:ext cx="137160" cy="137160"/>
          </a:xfrm>
          <a:prstGeom prst="rect">
            <a:avLst/>
          </a:prstGeom>
        </p:spPr>
      </p:pic>
      <p:sp>
        <p:nvSpPr>
          <p:cNvPr id="74" name="Text 59"/>
          <p:cNvSpPr txBox="1"/>
          <p:nvPr/>
        </p:nvSpPr>
        <p:spPr>
          <a:xfrm>
            <a:off x="822960" y="7909560"/>
            <a:ext cx="2706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lift more than you can safely manage</a:t>
            </a:r>
            <a:endParaRPr lang="en-US" sz="900" dirty="0"/>
          </a:p>
        </p:txBody>
      </p:sp>
      <p:pic>
        <p:nvPicPr>
          <p:cNvPr id="7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4360" y="8211312"/>
            <a:ext cx="137160" cy="137160"/>
          </a:xfrm>
          <a:prstGeom prst="rect">
            <a:avLst/>
          </a:prstGeom>
        </p:spPr>
      </p:pic>
      <p:sp>
        <p:nvSpPr>
          <p:cNvPr id="76" name="Text 60"/>
          <p:cNvSpPr txBox="1"/>
          <p:nvPr/>
        </p:nvSpPr>
        <p:spPr>
          <a:xfrm>
            <a:off x="822960" y="8183880"/>
            <a:ext cx="2706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carry loads that block your view</a:t>
            </a:r>
            <a:endParaRPr lang="en-US" sz="900" dirty="0"/>
          </a:p>
        </p:txBody>
      </p:sp>
      <p:pic>
        <p:nvPicPr>
          <p:cNvPr id="7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4360" y="8485632"/>
            <a:ext cx="137160" cy="137160"/>
          </a:xfrm>
          <a:prstGeom prst="rect">
            <a:avLst/>
          </a:prstGeom>
        </p:spPr>
      </p:pic>
      <p:sp>
        <p:nvSpPr>
          <p:cNvPr id="78" name="Text 61"/>
          <p:cNvSpPr txBox="1"/>
          <p:nvPr/>
        </p:nvSpPr>
        <p:spPr>
          <a:xfrm>
            <a:off x="822960" y="8458200"/>
            <a:ext cx="2706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jerk or snatch the load</a:t>
            </a:r>
            <a:endParaRPr lang="en-US" sz="900" dirty="0"/>
          </a:p>
        </p:txBody>
      </p:sp>
      <p:pic>
        <p:nvPicPr>
          <p:cNvPr id="7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4360" y="8759952"/>
            <a:ext cx="137160" cy="137160"/>
          </a:xfrm>
          <a:prstGeom prst="rect">
            <a:avLst/>
          </a:prstGeom>
        </p:spPr>
      </p:pic>
      <p:sp>
        <p:nvSpPr>
          <p:cNvPr id="80" name="Text 62"/>
          <p:cNvSpPr txBox="1"/>
          <p:nvPr/>
        </p:nvSpPr>
        <p:spPr>
          <a:xfrm>
            <a:off x="822960" y="8732520"/>
            <a:ext cx="2706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lifting from floor level</a:t>
            </a:r>
            <a:endParaRPr lang="en-US" sz="900" dirty="0"/>
          </a:p>
        </p:txBody>
      </p:sp>
      <p:sp>
        <p:nvSpPr>
          <p:cNvPr id="81" name="Text 63"/>
          <p:cNvSpPr txBox="1"/>
          <p:nvPr/>
        </p:nvSpPr>
        <p:spPr>
          <a:xfrm>
            <a:off x="4032504" y="75438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IT IF</a:t>
            </a:r>
            <a:endParaRPr lang="en-US" sz="1200" dirty="0"/>
          </a:p>
        </p:txBody>
      </p:sp>
      <p:pic>
        <p:nvPicPr>
          <p:cNvPr id="8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32504" y="7936992"/>
            <a:ext cx="137160" cy="137160"/>
          </a:xfrm>
          <a:prstGeom prst="rect">
            <a:avLst/>
          </a:prstGeom>
        </p:spPr>
      </p:pic>
      <p:sp>
        <p:nvSpPr>
          <p:cNvPr id="83" name="Text 64"/>
          <p:cNvSpPr txBox="1"/>
          <p:nvPr/>
        </p:nvSpPr>
        <p:spPr>
          <a:xfrm>
            <a:off x="4261104" y="7909560"/>
            <a:ext cx="2706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feel pain or strain</a:t>
            </a:r>
            <a:endParaRPr lang="en-US" sz="900" dirty="0"/>
          </a:p>
        </p:txBody>
      </p:sp>
      <p:pic>
        <p:nvPicPr>
          <p:cNvPr id="8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32504" y="8211312"/>
            <a:ext cx="137160" cy="137160"/>
          </a:xfrm>
          <a:prstGeom prst="rect">
            <a:avLst/>
          </a:prstGeom>
        </p:spPr>
      </p:pic>
      <p:sp>
        <p:nvSpPr>
          <p:cNvPr id="85" name="Text 65"/>
          <p:cNvSpPr txBox="1"/>
          <p:nvPr/>
        </p:nvSpPr>
        <p:spPr>
          <a:xfrm>
            <a:off x="4261104" y="8183880"/>
            <a:ext cx="2706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load is damaged or unstable</a:t>
            </a:r>
            <a:endParaRPr lang="en-US" sz="900" dirty="0"/>
          </a:p>
        </p:txBody>
      </p:sp>
      <p:pic>
        <p:nvPicPr>
          <p:cNvPr id="8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32504" y="8485632"/>
            <a:ext cx="137160" cy="137160"/>
          </a:xfrm>
          <a:prstGeom prst="rect">
            <a:avLst/>
          </a:prstGeom>
        </p:spPr>
      </p:pic>
      <p:sp>
        <p:nvSpPr>
          <p:cNvPr id="87" name="Text 66"/>
          <p:cNvSpPr txBox="1"/>
          <p:nvPr/>
        </p:nvSpPr>
        <p:spPr>
          <a:xfrm>
            <a:off x="4261104" y="8458200"/>
            <a:ext cx="2706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aids are faulty or missing</a:t>
            </a:r>
            <a:endParaRPr lang="en-US" sz="900" dirty="0"/>
          </a:p>
        </p:txBody>
      </p:sp>
      <p:pic>
        <p:nvPicPr>
          <p:cNvPr id="8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32504" y="8759952"/>
            <a:ext cx="137160" cy="137160"/>
          </a:xfrm>
          <a:prstGeom prst="rect">
            <a:avLst/>
          </a:prstGeom>
        </p:spPr>
      </p:pic>
      <p:sp>
        <p:nvSpPr>
          <p:cNvPr id="89" name="Text 67"/>
          <p:cNvSpPr txBox="1"/>
          <p:nvPr/>
        </p:nvSpPr>
        <p:spPr>
          <a:xfrm>
            <a:off x="4261104" y="8732520"/>
            <a:ext cx="2706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load is heavier than expected</a:t>
            </a:r>
            <a:endParaRPr lang="en-US" sz="900" dirty="0"/>
          </a:p>
        </p:txBody>
      </p:sp>
      <p:sp>
        <p:nvSpPr>
          <p:cNvPr id="90" name="Shape 68"/>
          <p:cNvSpPr/>
          <p:nvPr/>
        </p:nvSpPr>
        <p:spPr>
          <a:xfrm>
            <a:off x="0" y="9464040"/>
            <a:ext cx="7562088" cy="1225296"/>
          </a:xfrm>
          <a:prstGeom prst="rect">
            <a:avLst/>
          </a:prstGeom>
          <a:solidFill>
            <a:srgbClr val="FFC400"/>
          </a:solidFill>
          <a:ln w="12700">
            <a:solidFill>
              <a:srgbClr val="FFC400"/>
            </a:solidFill>
            <a:prstDash val="solid"/>
          </a:ln>
        </p:spPr>
      </p:sp>
      <p:sp>
        <p:nvSpPr>
          <p:cNvPr id="91" name="Text 69"/>
          <p:cNvSpPr txBox="1"/>
          <p:nvPr/>
        </p:nvSpPr>
        <p:spPr>
          <a:xfrm>
            <a:off x="411480" y="9555480"/>
            <a:ext cx="6739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BEFORE YOU LIFT</a:t>
            </a:r>
            <a:endParaRPr lang="en-US" sz="2200" dirty="0"/>
          </a:p>
        </p:txBody>
      </p:sp>
      <p:sp>
        <p:nvSpPr>
          <p:cNvPr id="92" name="Text 70"/>
          <p:cNvSpPr txBox="1"/>
          <p:nvPr/>
        </p:nvSpPr>
        <p:spPr>
          <a:xfrm>
            <a:off x="411480" y="9875520"/>
            <a:ext cx="6739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IT'S TOO HEAVY, GET HELP</a:t>
            </a:r>
            <a:endParaRPr lang="en-US" sz="1800" dirty="0"/>
          </a:p>
        </p:txBody>
      </p:sp>
      <p:sp>
        <p:nvSpPr>
          <p:cNvPr id="93" name="Text 71"/>
          <p:cNvSpPr txBox="1"/>
          <p:nvPr/>
        </p:nvSpPr>
        <p:spPr>
          <a:xfrm>
            <a:off x="411480" y="10287000"/>
            <a:ext cx="673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to your Team Leader or Shift Manager about any manual handling concerns.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Pedestrians &amp; MHE / Safe Manual Handling</dc:title>
  <dc:subject>PptxGenJS Presentation</dc:subject>
  <dc:creator>PptxGenJS</dc:creator>
  <cp:lastModifiedBy>PptxGenJS</cp:lastModifiedBy>
  <cp:revision>1</cp:revision>
  <dcterms:created xsi:type="dcterms:W3CDTF">2026-09-30T10:56:36Z</dcterms:created>
  <dcterms:modified xsi:type="dcterms:W3CDTF">2026-09-30T10:56:36Z</dcterms:modified>
</cp:coreProperties>
</file>